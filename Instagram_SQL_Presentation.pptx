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3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EB755-7CFB-4230-9D69-534755C7FDD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FB479-85A1-4B8B-B309-1AF8A6334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06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"Hello everyone,</a:t>
            </a:r>
            <a:br>
              <a:rPr lang="en-GB" dirty="0"/>
            </a:br>
            <a:br>
              <a:rPr lang="en-GB" dirty="0"/>
            </a:br>
            <a:r>
              <a:rPr lang="en-GB" dirty="0"/>
              <a:t>My name is Raj Pashilkar, and today I will be presenting my SQL project on Instagram Analytics.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objective of this project is to </a:t>
            </a:r>
            <a:r>
              <a:rPr lang="en-GB" dirty="0" err="1"/>
              <a:t>analyze</a:t>
            </a:r>
            <a:r>
              <a:rPr lang="en-GB" dirty="0"/>
              <a:t> Instagram performance data and generate meaningful business insights using SQL."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"In this project, I focused on </a:t>
            </a:r>
            <a:r>
              <a:rPr lang="en-GB" dirty="0" err="1"/>
              <a:t>analyzing</a:t>
            </a:r>
            <a:r>
              <a:rPr lang="en-GB" dirty="0"/>
              <a:t> engagement, reach, and follower growth.</a:t>
            </a:r>
          </a:p>
          <a:p>
            <a:br>
              <a:rPr lang="en-GB" dirty="0"/>
            </a:br>
            <a:r>
              <a:rPr lang="en-GB" dirty="0"/>
              <a:t>The goal is to transform raw data into actionable insights that can help improve content strategy."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205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"The dataset consists of three tables.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first is </a:t>
            </a:r>
            <a:r>
              <a:rPr lang="en-GB" dirty="0" err="1"/>
              <a:t>dim_dates</a:t>
            </a:r>
            <a:r>
              <a:rPr lang="en-GB" dirty="0"/>
              <a:t>, which contains date-related information.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second is </a:t>
            </a:r>
            <a:r>
              <a:rPr lang="en-GB" dirty="0" err="1"/>
              <a:t>fact_account</a:t>
            </a:r>
            <a:r>
              <a:rPr lang="en-GB" dirty="0"/>
              <a:t>, which tracks profile visits and new followers.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third is </a:t>
            </a:r>
            <a:r>
              <a:rPr lang="en-GB" dirty="0" err="1"/>
              <a:t>fact_content</a:t>
            </a:r>
            <a:r>
              <a:rPr lang="en-GB" dirty="0"/>
              <a:t>, which includes engagement metrics like likes, reach, comments, and shares."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319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"I used SQL Server Management Studio for this project.</a:t>
            </a:r>
          </a:p>
          <a:p>
            <a:br>
              <a:rPr lang="en-GB" dirty="0"/>
            </a:br>
            <a:r>
              <a:rPr lang="en-GB" dirty="0"/>
              <a:t>I applied SQL concepts such as joins, aggregations, common table expressions, and window functions to </a:t>
            </a:r>
            <a:r>
              <a:rPr lang="en-GB" dirty="0" err="1"/>
              <a:t>analyze</a:t>
            </a:r>
            <a:r>
              <a:rPr lang="en-GB" dirty="0"/>
              <a:t> the data."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127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"First, I joined multiple tables using the date column.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Then, I used aggregation functions like SUM and COUNT to calculate key metrics.</a:t>
            </a:r>
          </a:p>
          <a:p>
            <a:br>
              <a:rPr lang="en-GB" dirty="0"/>
            </a:br>
            <a:r>
              <a:rPr lang="en-GB" dirty="0"/>
              <a:t>I also used CTEs to structure queries and window functions to perform ranking-based analysis."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424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"In this analysis, I calculated the percentage contribution of each post type to total reach.</a:t>
            </a:r>
          </a:p>
          <a:p>
            <a:br>
              <a:rPr lang="en-GB" dirty="0"/>
            </a:br>
            <a:r>
              <a:rPr lang="en-GB" dirty="0"/>
              <a:t>The results show that Instagram Reels contribute around 61.63% of total reach, which is the highest among all formats.</a:t>
            </a:r>
          </a:p>
          <a:p>
            <a:br>
              <a:rPr lang="en-GB" dirty="0"/>
            </a:br>
            <a:r>
              <a:rPr lang="en-GB" dirty="0"/>
              <a:t>This indicates that Reels are the most effective content type for maximizing reach."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482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"Here, I </a:t>
            </a:r>
            <a:r>
              <a:rPr lang="en-GB" dirty="0" err="1"/>
              <a:t>analyzed</a:t>
            </a:r>
            <a:r>
              <a:rPr lang="en-GB" dirty="0"/>
              <a:t> monthly profile visits and new followers.</a:t>
            </a:r>
          </a:p>
          <a:p>
            <a:br>
              <a:rPr lang="en-GB" dirty="0"/>
            </a:br>
            <a:r>
              <a:rPr lang="en-GB" dirty="0"/>
              <a:t>The data shows that June recorded the highest follower growth at approximately 76.94K.</a:t>
            </a:r>
          </a:p>
          <a:p>
            <a:br>
              <a:rPr lang="en-GB" dirty="0"/>
            </a:br>
            <a:r>
              <a:rPr lang="en-GB" dirty="0"/>
              <a:t>This suggests that engagement peaks during mid-year, especially in May and June."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835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"From this analysis, I derived several important insights.</a:t>
            </a:r>
          </a:p>
          <a:p>
            <a:br>
              <a:rPr lang="en-GB" dirty="0"/>
            </a:br>
            <a:r>
              <a:rPr lang="en-GB" dirty="0"/>
              <a:t>Reels generate the highest reach.</a:t>
            </a:r>
          </a:p>
          <a:p>
            <a:br>
              <a:rPr lang="en-GB" dirty="0"/>
            </a:br>
            <a:r>
              <a:rPr lang="en-GB" dirty="0"/>
              <a:t>Weekend posts tend to perform better than weekdays.</a:t>
            </a:r>
          </a:p>
          <a:p>
            <a:br>
              <a:rPr lang="en-GB" dirty="0"/>
            </a:br>
            <a:r>
              <a:rPr lang="en-GB" dirty="0"/>
              <a:t>Tech-related content drives higher engagement.</a:t>
            </a:r>
          </a:p>
          <a:p>
            <a:br>
              <a:rPr lang="en-GB" dirty="0"/>
            </a:br>
            <a:r>
              <a:rPr lang="en-GB" dirty="0"/>
              <a:t>And overall, growth peaks during the mid-year period."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32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"Based on these insights, I recommend focusing more on Reels to maximize reach.</a:t>
            </a:r>
          </a:p>
          <a:p>
            <a:br>
              <a:rPr lang="en-GB" dirty="0"/>
            </a:br>
            <a:r>
              <a:rPr lang="en-GB" dirty="0"/>
              <a:t>Posting on weekends can improve engagement.</a:t>
            </a:r>
          </a:p>
          <a:p>
            <a:br>
              <a:rPr lang="en-GB" dirty="0"/>
            </a:br>
            <a:r>
              <a:rPr lang="en-GB" dirty="0"/>
              <a:t>It is also important to invest more in high-performing content categories.</a:t>
            </a:r>
          </a:p>
          <a:p>
            <a:br>
              <a:rPr lang="en-GB" dirty="0"/>
            </a:br>
            <a:r>
              <a:rPr lang="en-GB" dirty="0"/>
              <a:t>Finally, low-performing formats should be optimized."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17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"In conclusion, this project demonstrates how SQL can be used to extract valuable insights from data.</a:t>
            </a:r>
          </a:p>
          <a:p>
            <a:br>
              <a:rPr lang="en-GB" dirty="0"/>
            </a:br>
            <a:r>
              <a:rPr lang="en-GB" dirty="0"/>
              <a:t>It highlights the importance of data-driven decision-making in improving social media strategies."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810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"Thank you for your </a:t>
            </a:r>
            <a:r>
              <a:rPr lang="en-GB"/>
              <a:t>time.</a:t>
            </a:r>
            <a:br>
              <a:rPr lang="en-GB"/>
            </a:br>
            <a:br>
              <a:rPr lang="en-GB" dirty="0"/>
            </a:br>
            <a:r>
              <a:rPr lang="en-GB" dirty="0"/>
              <a:t>I am happy to take any questions."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B479-85A1-4B8B-B309-1AF8A6334E1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60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86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7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6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4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0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3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8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6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6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5994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00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3284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58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1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8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SQL-Based Instagram Engagement &amp; Growth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sz="2000" dirty="0"/>
          </a:p>
          <a:p>
            <a:r>
              <a:rPr sz="2000" dirty="0"/>
              <a:t>Raj Pashilkar</a:t>
            </a:r>
          </a:p>
          <a:p>
            <a:r>
              <a:rPr sz="2000" dirty="0"/>
              <a:t>Data Analyst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Analyze Instagram performance using SQL</a:t>
            </a:r>
          </a:p>
          <a:p>
            <a:r>
              <a:rPr sz="2000"/>
              <a:t>Focus on engagement, reach &amp; growth</a:t>
            </a:r>
          </a:p>
          <a:p>
            <a:r>
              <a:rPr sz="2000"/>
              <a:t>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dim_dates → Date information</a:t>
            </a:r>
          </a:p>
          <a:p>
            <a:r>
              <a:rPr sz="2000"/>
              <a:t>fact_account → Followers &amp; visits</a:t>
            </a:r>
          </a:p>
          <a:p>
            <a:r>
              <a:rPr sz="2000"/>
              <a:t>fact_content → Engagement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SQL Server (SSMS)</a:t>
            </a:r>
          </a:p>
          <a:p>
            <a:r>
              <a:rPr sz="2000"/>
              <a:t>SQL</a:t>
            </a:r>
          </a:p>
          <a:p>
            <a:r>
              <a:rPr sz="2000"/>
              <a:t>CTE, Joins, Window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Join tables using date</a:t>
            </a:r>
          </a:p>
          <a:p>
            <a:r>
              <a:rPr sz="2000"/>
              <a:t>Aggregation (SUM, COUNT)</a:t>
            </a:r>
          </a:p>
          <a:p>
            <a:r>
              <a:rPr sz="2000"/>
              <a:t>CTE for structured queries</a:t>
            </a:r>
          </a:p>
          <a:p>
            <a:r>
              <a:rPr sz="2000"/>
              <a:t>Window functions for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44124"/>
            <a:ext cx="6347714" cy="1320800"/>
          </a:xfrm>
        </p:spPr>
        <p:txBody>
          <a:bodyPr/>
          <a:lstStyle/>
          <a:p>
            <a:r>
              <a:rPr sz="4000" b="1" dirty="0"/>
              <a:t>Reach Contribution by Post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199" y="1930400"/>
            <a:ext cx="3730361" cy="20221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Query :</a:t>
            </a:r>
          </a:p>
          <a:p>
            <a:endParaRPr lang="en-GB" dirty="0"/>
          </a:p>
          <a:p>
            <a:r>
              <a:rPr lang="en-GB" dirty="0"/>
              <a:t>SELECT post_type,</a:t>
            </a:r>
            <a:br>
              <a:rPr lang="en-GB" dirty="0"/>
            </a:br>
            <a:r>
              <a:rPr lang="en-GB" dirty="0"/>
              <a:t>	SUM(reach) AS total_reach,</a:t>
            </a:r>
            <a:br>
              <a:rPr lang="en-GB" dirty="0"/>
            </a:br>
            <a:r>
              <a:rPr lang="en-GB" dirty="0"/>
              <a:t>	-- calculated % contribution</a:t>
            </a:r>
            <a:br>
              <a:rPr lang="en-GB" dirty="0"/>
            </a:br>
            <a:r>
              <a:rPr lang="en-GB" dirty="0"/>
              <a:t>FROM fact_content</a:t>
            </a: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918275" y="4218044"/>
            <a:ext cx="4059738" cy="22073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Insight :</a:t>
            </a:r>
            <a:endParaRPr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/>
              <a:t>IG Reel → </a:t>
            </a:r>
            <a:r>
              <a:rPr sz="2000" b="1" dirty="0">
                <a:solidFill>
                  <a:srgbClr val="FFFF00"/>
                </a:solidFill>
              </a:rPr>
              <a:t>61.63% (Highest)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/>
              <a:t>IG Image → 21.38%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/>
              <a:t>IG Video → 16.30%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/>
              <a:t>IG Carousel → Lowest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07C18-B7E1-CA82-7206-C6E4341659DB}"/>
              </a:ext>
            </a:extLst>
          </p:cNvPr>
          <p:cNvSpPr/>
          <p:nvPr/>
        </p:nvSpPr>
        <p:spPr>
          <a:xfrm>
            <a:off x="4640826" y="1930400"/>
            <a:ext cx="2576051" cy="20221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Output :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ctr"/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13E33D-7258-68AC-FC8E-E71542475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40288"/>
              </p:ext>
            </p:extLst>
          </p:nvPr>
        </p:nvGraphicFramePr>
        <p:xfrm>
          <a:off x="4768645" y="2369133"/>
          <a:ext cx="2271252" cy="1553938"/>
        </p:xfrm>
        <a:graphic>
          <a:graphicData uri="http://schemas.openxmlformats.org/drawingml/2006/table">
            <a:tbl>
              <a:tblPr/>
              <a:tblGrid>
                <a:gridCol w="1213409">
                  <a:extLst>
                    <a:ext uri="{9D8B030D-6E8A-4147-A177-3AD203B41FA5}">
                      <a16:colId xmlns:a16="http://schemas.microsoft.com/office/drawing/2014/main" val="4062155284"/>
                    </a:ext>
                  </a:extLst>
                </a:gridCol>
                <a:gridCol w="1057843">
                  <a:extLst>
                    <a:ext uri="{9D8B030D-6E8A-4147-A177-3AD203B41FA5}">
                      <a16:colId xmlns:a16="http://schemas.microsoft.com/office/drawing/2014/main" val="776205488"/>
                    </a:ext>
                  </a:extLst>
                </a:gridCol>
              </a:tblGrid>
              <a:tr h="26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Post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% Reach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86100"/>
                  </a:ext>
                </a:extLst>
              </a:tr>
              <a:tr h="26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IG Reel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61.63%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355611"/>
                  </a:ext>
                </a:extLst>
              </a:tr>
              <a:tr h="365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IG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21.38%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182019"/>
                  </a:ext>
                </a:extLst>
              </a:tr>
              <a:tr h="26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IG Video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16.30%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059325"/>
                  </a:ext>
                </a:extLst>
              </a:tr>
              <a:tr h="365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IG Carousel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0.69%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5845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1411"/>
            <a:ext cx="6347714" cy="1320800"/>
          </a:xfrm>
        </p:spPr>
        <p:txBody>
          <a:bodyPr/>
          <a:lstStyle/>
          <a:p>
            <a:r>
              <a:rPr sz="4000" b="1" dirty="0"/>
              <a:t>Monthly Growth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176981" y="1361764"/>
            <a:ext cx="5250425" cy="254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Query :</a:t>
            </a:r>
          </a:p>
          <a:p>
            <a:endParaRPr lang="en-GB" sz="2400" dirty="0"/>
          </a:p>
          <a:p>
            <a:r>
              <a:rPr lang="en-GB" dirty="0"/>
              <a:t>SELECT month_name,</a:t>
            </a:r>
          </a:p>
          <a:p>
            <a:r>
              <a:rPr lang="en-GB" dirty="0"/>
              <a:t>       SUM(profile_visits) AS total_profile_visits,</a:t>
            </a:r>
          </a:p>
          <a:p>
            <a:r>
              <a:rPr lang="en-GB" dirty="0"/>
              <a:t>       SUM(new_followers) AS total_new_followers</a:t>
            </a:r>
          </a:p>
          <a:p>
            <a:r>
              <a:rPr lang="en-GB" dirty="0"/>
              <a:t>FROM fact_account</a:t>
            </a:r>
          </a:p>
          <a:p>
            <a:r>
              <a:rPr lang="en-GB" dirty="0"/>
              <a:t>GROUP BY month_name</a:t>
            </a:r>
          </a:p>
          <a:p>
            <a:endParaRPr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010BC85-A324-1ECC-47CA-2BD7BF71F474}"/>
              </a:ext>
            </a:extLst>
          </p:cNvPr>
          <p:cNvSpPr/>
          <p:nvPr/>
        </p:nvSpPr>
        <p:spPr>
          <a:xfrm>
            <a:off x="457200" y="4426978"/>
            <a:ext cx="4970206" cy="21385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Insight :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June → </a:t>
            </a:r>
            <a:r>
              <a:rPr lang="en-IN" b="1" dirty="0">
                <a:solidFill>
                  <a:srgbClr val="FFFF00"/>
                </a:solidFill>
              </a:rPr>
              <a:t>76,94K (Highest 🔥)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May → Strong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February → Lowest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Growth trend increases towards mid-year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05741C-3E4E-6405-FFF0-282F1805FF8C}"/>
              </a:ext>
            </a:extLst>
          </p:cNvPr>
          <p:cNvSpPr/>
          <p:nvPr/>
        </p:nvSpPr>
        <p:spPr>
          <a:xfrm>
            <a:off x="5545394" y="1361764"/>
            <a:ext cx="2821857" cy="315124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Output :</a:t>
            </a:r>
            <a:r>
              <a:rPr lang="en-IN" dirty="0"/>
              <a:t> 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ctr"/>
            <a:endParaRPr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79D8B5-C02B-5E33-3AD5-FBB044EE0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962843"/>
              </p:ext>
            </p:extLst>
          </p:nvPr>
        </p:nvGraphicFramePr>
        <p:xfrm>
          <a:off x="5545393" y="1769807"/>
          <a:ext cx="2821856" cy="2743200"/>
        </p:xfrm>
        <a:graphic>
          <a:graphicData uri="http://schemas.openxmlformats.org/drawingml/2006/table">
            <a:tbl>
              <a:tblPr/>
              <a:tblGrid>
                <a:gridCol w="934065">
                  <a:extLst>
                    <a:ext uri="{9D8B030D-6E8A-4147-A177-3AD203B41FA5}">
                      <a16:colId xmlns:a16="http://schemas.microsoft.com/office/drawing/2014/main" val="4124588558"/>
                    </a:ext>
                  </a:extLst>
                </a:gridCol>
                <a:gridCol w="796413">
                  <a:extLst>
                    <a:ext uri="{9D8B030D-6E8A-4147-A177-3AD203B41FA5}">
                      <a16:colId xmlns:a16="http://schemas.microsoft.com/office/drawing/2014/main" val="2006121059"/>
                    </a:ext>
                  </a:extLst>
                </a:gridCol>
                <a:gridCol w="1091378">
                  <a:extLst>
                    <a:ext uri="{9D8B030D-6E8A-4147-A177-3AD203B41FA5}">
                      <a16:colId xmlns:a16="http://schemas.microsoft.com/office/drawing/2014/main" val="3017540275"/>
                    </a:ext>
                  </a:extLst>
                </a:gridCol>
              </a:tblGrid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Visits (K)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Followers (K)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784327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June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103.35K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76.94K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660038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106.57K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66.98K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64228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July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54.35K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33.30K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08880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September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41.52K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28.52K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738795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August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42.09K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24.37K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25629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April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29.85K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21.80K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931419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March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23.13K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18.29K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725842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January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26.51K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17.05K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841917"/>
                  </a:ext>
                </a:extLst>
              </a:tr>
              <a:tr h="249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February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20.63K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15.25K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1747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Reels generate highest reach</a:t>
            </a:r>
          </a:p>
          <a:p>
            <a:r>
              <a:rPr sz="2000"/>
              <a:t>Weekend posts perform better</a:t>
            </a:r>
          </a:p>
          <a:p>
            <a:r>
              <a:rPr sz="2000"/>
              <a:t>Tech categories drive engagement</a:t>
            </a:r>
          </a:p>
          <a:p>
            <a:r>
              <a:rPr sz="2000"/>
              <a:t>Peak growth in May &amp; June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Focus on Reels</a:t>
            </a:r>
          </a:p>
          <a:p>
            <a:r>
              <a:rPr sz="2000"/>
              <a:t>Post on weekends</a:t>
            </a:r>
          </a:p>
          <a:p>
            <a:r>
              <a:rPr sz="2000"/>
              <a:t>Improve low-performing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SQL enables insight-driven decisions</a:t>
            </a:r>
          </a:p>
          <a:p>
            <a:r>
              <a:rPr sz="2000"/>
              <a:t>Helps optimize content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299</TotalTime>
  <Words>781</Words>
  <Application>Microsoft Office PowerPoint</Application>
  <PresentationFormat>On-screen Show (4:3)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SQL-Based Instagram Engagement &amp; Growth Analysis</vt:lpstr>
      <vt:lpstr>Project Overview</vt:lpstr>
      <vt:lpstr>Dataset Overview</vt:lpstr>
      <vt:lpstr>Tools &amp; Technologies</vt:lpstr>
      <vt:lpstr>Approach</vt:lpstr>
      <vt:lpstr>Reach Contribution by Post Type</vt:lpstr>
      <vt:lpstr>Monthly Growth Trend</vt:lpstr>
      <vt:lpstr>Key Insights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pashi</dc:creator>
  <cp:keywords/>
  <dc:description>generated using python-pptx</dc:description>
  <cp:lastModifiedBy>pashilkarraj8@gmail.com</cp:lastModifiedBy>
  <cp:revision>5</cp:revision>
  <dcterms:created xsi:type="dcterms:W3CDTF">2013-01-27T09:14:16Z</dcterms:created>
  <dcterms:modified xsi:type="dcterms:W3CDTF">2026-04-18T06:18:45Z</dcterms:modified>
  <cp:category/>
</cp:coreProperties>
</file>